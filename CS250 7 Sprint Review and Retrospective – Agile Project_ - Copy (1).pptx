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84" r:id="rId4"/>
  </p:sldMasterIdLst>
  <p:sldIdLst>
    <p:sldId id="256" r:id="rId5"/>
    <p:sldId id="257" r:id="rId6"/>
    <p:sldId id="258" r:id="rId7"/>
    <p:sldId id="259" r:id="rId8"/>
    <p:sldId id="265" r:id="rId9"/>
    <p:sldId id="266" r:id="rId10"/>
    <p:sldId id="267" r:id="rId11"/>
    <p:sldId id="268" r:id="rId12"/>
    <p:sldId id="269" r:id="rId13"/>
    <p:sldId id="270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pos="2400" userDrawn="1">
          <p15:clr>
            <a:srgbClr val="A4A3A4"/>
          </p15:clr>
        </p15:guide>
        <p15:guide id="4" pos="571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90A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7207B3-046E-EE5A-069A-33AE35F7487E}" v="342" dt="2026-04-16T04:03:51.411"/>
    <p1510:client id="{C8371FC6-9258-AB3D-8836-D86F859A3A6B}" v="228" dt="2026-04-16T01:45:33.1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>
        <p:scale>
          <a:sx n="100" d="100"/>
          <a:sy n="100" d="100"/>
        </p:scale>
        <p:origin x="-77" y="-499"/>
      </p:cViewPr>
      <p:guideLst>
        <p:guide pos="3840"/>
        <p:guide orient="horz" pos="2400"/>
        <p:guide pos="57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0704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456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276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9897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91582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49854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82955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09731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92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9275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19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91F1F1F-529D-951D-8998-9FD2286804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8DF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7C80C7-9901-8D58-5EFA-FDA2F7C04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9106" y="-1"/>
            <a:ext cx="8421072" cy="6858000"/>
          </a:xfrm>
          <a:custGeom>
            <a:avLst/>
            <a:gdLst>
              <a:gd name="connsiteX0" fmla="*/ 0 w 8398619"/>
              <a:gd name="connsiteY0" fmla="*/ 0 h 6858000"/>
              <a:gd name="connsiteX1" fmla="*/ 8398619 w 8398619"/>
              <a:gd name="connsiteY1" fmla="*/ 0 h 6858000"/>
              <a:gd name="connsiteX2" fmla="*/ 8398619 w 8398619"/>
              <a:gd name="connsiteY2" fmla="*/ 6858000 h 6858000"/>
              <a:gd name="connsiteX3" fmla="*/ 0 w 8398619"/>
              <a:gd name="connsiteY3" fmla="*/ 6858000 h 6858000"/>
              <a:gd name="connsiteX4" fmla="*/ 0 w 8398619"/>
              <a:gd name="connsiteY4" fmla="*/ 0 h 6858000"/>
              <a:gd name="connsiteX0" fmla="*/ 0 w 8403036"/>
              <a:gd name="connsiteY0" fmla="*/ 0 h 6858000"/>
              <a:gd name="connsiteX1" fmla="*/ 8398619 w 8403036"/>
              <a:gd name="connsiteY1" fmla="*/ 0 h 6858000"/>
              <a:gd name="connsiteX2" fmla="*/ 8398619 w 8403036"/>
              <a:gd name="connsiteY2" fmla="*/ 6858000 h 6858000"/>
              <a:gd name="connsiteX3" fmla="*/ 0 w 8403036"/>
              <a:gd name="connsiteY3" fmla="*/ 6858000 h 6858000"/>
              <a:gd name="connsiteX4" fmla="*/ 0 w 8403036"/>
              <a:gd name="connsiteY4" fmla="*/ 0 h 6858000"/>
              <a:gd name="connsiteX0" fmla="*/ 0 w 8421760"/>
              <a:gd name="connsiteY0" fmla="*/ 0 h 6858000"/>
              <a:gd name="connsiteX1" fmla="*/ 8398619 w 8421760"/>
              <a:gd name="connsiteY1" fmla="*/ 0 h 6858000"/>
              <a:gd name="connsiteX2" fmla="*/ 8419802 w 8421760"/>
              <a:gd name="connsiteY2" fmla="*/ 6858000 h 6858000"/>
              <a:gd name="connsiteX3" fmla="*/ 0 w 8421760"/>
              <a:gd name="connsiteY3" fmla="*/ 6858000 h 6858000"/>
              <a:gd name="connsiteX4" fmla="*/ 0 w 8421760"/>
              <a:gd name="connsiteY4" fmla="*/ 0 h 6858000"/>
              <a:gd name="connsiteX0" fmla="*/ 0 w 8421072"/>
              <a:gd name="connsiteY0" fmla="*/ 0 h 6858000"/>
              <a:gd name="connsiteX1" fmla="*/ 8398619 w 8421072"/>
              <a:gd name="connsiteY1" fmla="*/ 0 h 6858000"/>
              <a:gd name="connsiteX2" fmla="*/ 8419802 w 8421072"/>
              <a:gd name="connsiteY2" fmla="*/ 6858000 h 6858000"/>
              <a:gd name="connsiteX3" fmla="*/ 0 w 8421072"/>
              <a:gd name="connsiteY3" fmla="*/ 6858000 h 6858000"/>
              <a:gd name="connsiteX4" fmla="*/ 0 w 8421072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421072" h="6858000">
                <a:moveTo>
                  <a:pt x="0" y="0"/>
                </a:moveTo>
                <a:lnTo>
                  <a:pt x="8398619" y="0"/>
                </a:lnTo>
                <a:cubicBezTo>
                  <a:pt x="8377436" y="2261287"/>
                  <a:pt x="8429741" y="4666422"/>
                  <a:pt x="8419802" y="6858000"/>
                </a:cubicBez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5CFCDD4-34E8-AC06-3D5E-32D562BE7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3785834" y="2229288"/>
            <a:ext cx="842879" cy="8414546"/>
          </a:xfrm>
          <a:custGeom>
            <a:avLst/>
            <a:gdLst>
              <a:gd name="connsiteX0" fmla="*/ 0 w 842879"/>
              <a:gd name="connsiteY0" fmla="*/ 8414546 h 8414546"/>
              <a:gd name="connsiteX1" fmla="*/ 5570 w 842879"/>
              <a:gd name="connsiteY1" fmla="*/ 7654963 h 8414546"/>
              <a:gd name="connsiteX2" fmla="*/ 24941 w 842879"/>
              <a:gd name="connsiteY2" fmla="*/ 4078 h 8414546"/>
              <a:gd name="connsiteX3" fmla="*/ 639284 w 842879"/>
              <a:gd name="connsiteY3" fmla="*/ 0 h 8414546"/>
              <a:gd name="connsiteX4" fmla="*/ 842879 w 842879"/>
              <a:gd name="connsiteY4" fmla="*/ 111 h 8414546"/>
              <a:gd name="connsiteX5" fmla="*/ 842878 w 842879"/>
              <a:gd name="connsiteY5" fmla="*/ 8414546 h 8414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42879" h="8414546">
                <a:moveTo>
                  <a:pt x="0" y="8414546"/>
                </a:moveTo>
                <a:lnTo>
                  <a:pt x="5570" y="7654963"/>
                </a:lnTo>
                <a:cubicBezTo>
                  <a:pt x="19055" y="5120132"/>
                  <a:pt x="912" y="2515713"/>
                  <a:pt x="24941" y="4078"/>
                </a:cubicBezTo>
                <a:cubicBezTo>
                  <a:pt x="194402" y="2356"/>
                  <a:pt x="409219" y="577"/>
                  <a:pt x="639284" y="0"/>
                </a:cubicBezTo>
                <a:lnTo>
                  <a:pt x="842879" y="111"/>
                </a:lnTo>
                <a:lnTo>
                  <a:pt x="842878" y="8414546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9F538DF1-F279-6FD3-54B3-F49AECD5CA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 flipV="1">
            <a:off x="2804041" y="221724"/>
            <a:ext cx="2812833" cy="8420912"/>
          </a:xfrm>
          <a:custGeom>
            <a:avLst/>
            <a:gdLst>
              <a:gd name="connsiteX0" fmla="*/ 2812026 w 2812833"/>
              <a:gd name="connsiteY0" fmla="*/ 7515587 h 8420912"/>
              <a:gd name="connsiteX1" fmla="*/ 2737038 w 2812833"/>
              <a:gd name="connsiteY1" fmla="*/ 32353 h 8420912"/>
              <a:gd name="connsiteX2" fmla="*/ 78161 w 2812833"/>
              <a:gd name="connsiteY2" fmla="*/ 35255 h 8420912"/>
              <a:gd name="connsiteX3" fmla="*/ 10482 w 2812833"/>
              <a:gd name="connsiteY3" fmla="*/ 7540713 h 8420912"/>
              <a:gd name="connsiteX4" fmla="*/ 37139 w 2812833"/>
              <a:gd name="connsiteY4" fmla="*/ 8420912 h 8420912"/>
              <a:gd name="connsiteX5" fmla="*/ 2802613 w 2812833"/>
              <a:gd name="connsiteY5" fmla="*/ 8420912 h 8420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12833" h="8420912">
                <a:moveTo>
                  <a:pt x="2812026" y="7515587"/>
                </a:moveTo>
                <a:cubicBezTo>
                  <a:pt x="2822175" y="5045078"/>
                  <a:pt x="2733216" y="2526060"/>
                  <a:pt x="2737038" y="32353"/>
                </a:cubicBezTo>
                <a:cubicBezTo>
                  <a:pt x="1850745" y="33321"/>
                  <a:pt x="964454" y="-42841"/>
                  <a:pt x="78161" y="35255"/>
                </a:cubicBezTo>
                <a:cubicBezTo>
                  <a:pt x="80974" y="2508834"/>
                  <a:pt x="-34699" y="5179609"/>
                  <a:pt x="10482" y="7540713"/>
                </a:cubicBezTo>
                <a:lnTo>
                  <a:pt x="37139" y="8420912"/>
                </a:lnTo>
                <a:lnTo>
                  <a:pt x="2802613" y="8420912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CE14AE4-9B80-2D91-30D5-79C8F7316F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2736189" y="-2736188"/>
            <a:ext cx="2922005" cy="8394383"/>
          </a:xfrm>
          <a:custGeom>
            <a:avLst/>
            <a:gdLst>
              <a:gd name="connsiteX0" fmla="*/ 0 w 2922005"/>
              <a:gd name="connsiteY0" fmla="*/ 8394383 h 8394383"/>
              <a:gd name="connsiteX1" fmla="*/ 0 w 2922005"/>
              <a:gd name="connsiteY1" fmla="*/ 0 h 8394383"/>
              <a:gd name="connsiteX2" fmla="*/ 2829789 w 2922005"/>
              <a:gd name="connsiteY2" fmla="*/ 0 h 8394383"/>
              <a:gd name="connsiteX3" fmla="*/ 2906758 w 2922005"/>
              <a:gd name="connsiteY3" fmla="*/ 7554515 h 8394383"/>
              <a:gd name="connsiteX4" fmla="*/ 2922005 w 2922005"/>
              <a:gd name="connsiteY4" fmla="*/ 8394383 h 83943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22005" h="8394383">
                <a:moveTo>
                  <a:pt x="0" y="8394383"/>
                </a:moveTo>
                <a:lnTo>
                  <a:pt x="0" y="0"/>
                </a:lnTo>
                <a:lnTo>
                  <a:pt x="2829789" y="0"/>
                </a:lnTo>
                <a:cubicBezTo>
                  <a:pt x="2924189" y="2274966"/>
                  <a:pt x="2873866" y="4980111"/>
                  <a:pt x="2906758" y="7554515"/>
                </a:cubicBezTo>
                <a:lnTo>
                  <a:pt x="2922005" y="8394383"/>
                </a:lnTo>
                <a:close/>
              </a:path>
            </a:pathLst>
          </a:custGeom>
          <a:solidFill>
            <a:schemeClr val="bg2"/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2CF8DFF4-76F9-31A0-19A9-5C48DBA840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8699709" y="-195066"/>
            <a:ext cx="3160696" cy="3823883"/>
          </a:xfrm>
          <a:custGeom>
            <a:avLst/>
            <a:gdLst>
              <a:gd name="connsiteX0" fmla="*/ 0 w 3160696"/>
              <a:gd name="connsiteY0" fmla="*/ 251594 h 3823883"/>
              <a:gd name="connsiteX1" fmla="*/ 19545 w 3160696"/>
              <a:gd name="connsiteY1" fmla="*/ 32798 h 3823883"/>
              <a:gd name="connsiteX2" fmla="*/ 21253 w 3160696"/>
              <a:gd name="connsiteY2" fmla="*/ 0 h 3823883"/>
              <a:gd name="connsiteX3" fmla="*/ 3160696 w 3160696"/>
              <a:gd name="connsiteY3" fmla="*/ 0 h 3823883"/>
              <a:gd name="connsiteX4" fmla="*/ 3127107 w 3160696"/>
              <a:gd name="connsiteY4" fmla="*/ 3785562 h 3823883"/>
              <a:gd name="connsiteX5" fmla="*/ 85393 w 3160696"/>
              <a:gd name="connsiteY5" fmla="*/ 3810651 h 38238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60696" h="3823883">
                <a:moveTo>
                  <a:pt x="0" y="251594"/>
                </a:moveTo>
                <a:cubicBezTo>
                  <a:pt x="18741" y="248115"/>
                  <a:pt x="16523" y="125574"/>
                  <a:pt x="19545" y="32798"/>
                </a:cubicBezTo>
                <a:lnTo>
                  <a:pt x="21253" y="0"/>
                </a:lnTo>
                <a:lnTo>
                  <a:pt x="3160696" y="0"/>
                </a:lnTo>
                <a:lnTo>
                  <a:pt x="3127107" y="3785562"/>
                </a:lnTo>
                <a:cubicBezTo>
                  <a:pt x="2108547" y="3830647"/>
                  <a:pt x="1215662" y="3831666"/>
                  <a:pt x="85393" y="381065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F53BFCF5-9D37-8A22-F17B-F82C331AB9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995222" y="4679099"/>
            <a:ext cx="594309" cy="3763494"/>
          </a:xfrm>
          <a:custGeom>
            <a:avLst/>
            <a:gdLst>
              <a:gd name="connsiteX0" fmla="*/ 0 w 594309"/>
              <a:gd name="connsiteY0" fmla="*/ 3758993 h 3763494"/>
              <a:gd name="connsiteX1" fmla="*/ 9335 w 594309"/>
              <a:gd name="connsiteY1" fmla="*/ 0 h 3763494"/>
              <a:gd name="connsiteX2" fmla="*/ 594309 w 594309"/>
              <a:gd name="connsiteY2" fmla="*/ 0 h 3763494"/>
              <a:gd name="connsiteX3" fmla="*/ 594309 w 594309"/>
              <a:gd name="connsiteY3" fmla="*/ 3763494 h 3763494"/>
              <a:gd name="connsiteX4" fmla="*/ 528862 w 594309"/>
              <a:gd name="connsiteY4" fmla="*/ 3762655 h 3763494"/>
              <a:gd name="connsiteX5" fmla="*/ 0 w 594309"/>
              <a:gd name="connsiteY5" fmla="*/ 3758993 h 3763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94309" h="3763494">
                <a:moveTo>
                  <a:pt x="0" y="3758993"/>
                </a:moveTo>
                <a:lnTo>
                  <a:pt x="9335" y="0"/>
                </a:lnTo>
                <a:lnTo>
                  <a:pt x="594309" y="0"/>
                </a:lnTo>
                <a:lnTo>
                  <a:pt x="594309" y="3763494"/>
                </a:lnTo>
                <a:lnTo>
                  <a:pt x="528862" y="3762655"/>
                </a:lnTo>
                <a:cubicBezTo>
                  <a:pt x="353264" y="3760401"/>
                  <a:pt x="177320" y="3758665"/>
                  <a:pt x="0" y="3758993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B84818A0-64B3-C900-227E-6697BD355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5400000">
            <a:off x="9034320" y="2877097"/>
            <a:ext cx="2526851" cy="3806721"/>
          </a:xfrm>
          <a:custGeom>
            <a:avLst/>
            <a:gdLst>
              <a:gd name="connsiteX0" fmla="*/ 9009 w 2024737"/>
              <a:gd name="connsiteY0" fmla="*/ 1206998 h 1206998"/>
              <a:gd name="connsiteX1" fmla="*/ 0 w 2024737"/>
              <a:gd name="connsiteY1" fmla="*/ 0 h 1206998"/>
              <a:gd name="connsiteX2" fmla="*/ 2014447 w 2024737"/>
              <a:gd name="connsiteY2" fmla="*/ 0 h 1206998"/>
              <a:gd name="connsiteX3" fmla="*/ 2024737 w 2024737"/>
              <a:gd name="connsiteY3" fmla="*/ 1143134 h 1206998"/>
              <a:gd name="connsiteX0" fmla="*/ 9009 w 2028993"/>
              <a:gd name="connsiteY0" fmla="*/ 1308367 h 1308367"/>
              <a:gd name="connsiteX1" fmla="*/ 0 w 2028993"/>
              <a:gd name="connsiteY1" fmla="*/ 101369 h 1308367"/>
              <a:gd name="connsiteX2" fmla="*/ 2028993 w 2028993"/>
              <a:gd name="connsiteY2" fmla="*/ 0 h 1308367"/>
              <a:gd name="connsiteX3" fmla="*/ 2024737 w 2028993"/>
              <a:gd name="connsiteY3" fmla="*/ 1244503 h 1308367"/>
              <a:gd name="connsiteX4" fmla="*/ 9009 w 2028993"/>
              <a:gd name="connsiteY4" fmla="*/ 1308367 h 1308367"/>
              <a:gd name="connsiteX0" fmla="*/ 81737 w 2101721"/>
              <a:gd name="connsiteY0" fmla="*/ 1308367 h 1308367"/>
              <a:gd name="connsiteX1" fmla="*/ 0 w 2101721"/>
              <a:gd name="connsiteY1" fmla="*/ 0 h 1308367"/>
              <a:gd name="connsiteX2" fmla="*/ 2101721 w 2101721"/>
              <a:gd name="connsiteY2" fmla="*/ 0 h 1308367"/>
              <a:gd name="connsiteX3" fmla="*/ 2097465 w 2101721"/>
              <a:gd name="connsiteY3" fmla="*/ 1244503 h 1308367"/>
              <a:gd name="connsiteX4" fmla="*/ 81737 w 2101721"/>
              <a:gd name="connsiteY4" fmla="*/ 1308367 h 1308367"/>
              <a:gd name="connsiteX0" fmla="*/ 81737 w 2128000"/>
              <a:gd name="connsiteY0" fmla="*/ 1308367 h 1308367"/>
              <a:gd name="connsiteX1" fmla="*/ 0 w 2128000"/>
              <a:gd name="connsiteY1" fmla="*/ 0 h 1308367"/>
              <a:gd name="connsiteX2" fmla="*/ 2101721 w 2128000"/>
              <a:gd name="connsiteY2" fmla="*/ 0 h 1308367"/>
              <a:gd name="connsiteX3" fmla="*/ 2097465 w 2128000"/>
              <a:gd name="connsiteY3" fmla="*/ 1244503 h 1308367"/>
              <a:gd name="connsiteX4" fmla="*/ 81737 w 2128000"/>
              <a:gd name="connsiteY4" fmla="*/ 1308367 h 1308367"/>
              <a:gd name="connsiteX0" fmla="*/ 81737 w 2167180"/>
              <a:gd name="connsiteY0" fmla="*/ 1308367 h 1308367"/>
              <a:gd name="connsiteX1" fmla="*/ 0 w 2167180"/>
              <a:gd name="connsiteY1" fmla="*/ 0 h 1308367"/>
              <a:gd name="connsiteX2" fmla="*/ 2167180 w 2167180"/>
              <a:gd name="connsiteY2" fmla="*/ 0 h 1308367"/>
              <a:gd name="connsiteX3" fmla="*/ 2097465 w 2167180"/>
              <a:gd name="connsiteY3" fmla="*/ 1244503 h 1308367"/>
              <a:gd name="connsiteX4" fmla="*/ 81737 w 2167180"/>
              <a:gd name="connsiteY4" fmla="*/ 1308367 h 1308367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0 w 2170615"/>
              <a:gd name="connsiteY3" fmla="*/ 1244503 h 1264399"/>
              <a:gd name="connsiteX4" fmla="*/ 0 w 2170615"/>
              <a:gd name="connsiteY4" fmla="*/ 1264399 h 1264399"/>
              <a:gd name="connsiteX0" fmla="*/ 0 w 2170615"/>
              <a:gd name="connsiteY0" fmla="*/ 1264399 h 1264399"/>
              <a:gd name="connsiteX1" fmla="*/ 3435 w 2170615"/>
              <a:gd name="connsiteY1" fmla="*/ 0 h 1264399"/>
              <a:gd name="connsiteX2" fmla="*/ 2170615 w 2170615"/>
              <a:gd name="connsiteY2" fmla="*/ 0 h 1264399"/>
              <a:gd name="connsiteX3" fmla="*/ 2100903 w 2170615"/>
              <a:gd name="connsiteY3" fmla="*/ 1259159 h 1264399"/>
              <a:gd name="connsiteX4" fmla="*/ 0 w 2170615"/>
              <a:gd name="connsiteY4" fmla="*/ 1264399 h 1264399"/>
              <a:gd name="connsiteX0" fmla="*/ 0 w 2170615"/>
              <a:gd name="connsiteY0" fmla="*/ 1264399 h 1266019"/>
              <a:gd name="connsiteX1" fmla="*/ 3435 w 2170615"/>
              <a:gd name="connsiteY1" fmla="*/ 0 h 1266019"/>
              <a:gd name="connsiteX2" fmla="*/ 2170615 w 2170615"/>
              <a:gd name="connsiteY2" fmla="*/ 0 h 1266019"/>
              <a:gd name="connsiteX3" fmla="*/ 2100903 w 2170615"/>
              <a:gd name="connsiteY3" fmla="*/ 1259159 h 1266019"/>
              <a:gd name="connsiteX4" fmla="*/ 0 w 2170615"/>
              <a:gd name="connsiteY4" fmla="*/ 1264399 h 1266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70615" h="1266019">
                <a:moveTo>
                  <a:pt x="0" y="1264399"/>
                </a:moveTo>
                <a:lnTo>
                  <a:pt x="3435" y="0"/>
                </a:lnTo>
                <a:lnTo>
                  <a:pt x="2170615" y="0"/>
                </a:lnTo>
                <a:cubicBezTo>
                  <a:pt x="2169196" y="414834"/>
                  <a:pt x="2167782" y="728877"/>
                  <a:pt x="2100903" y="1259159"/>
                </a:cubicBezTo>
                <a:cubicBezTo>
                  <a:pt x="1315430" y="1271897"/>
                  <a:pt x="700301" y="1262652"/>
                  <a:pt x="0" y="1264399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144C4-FEA7-A342-81D0-F094EA02C9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6382511" cy="378175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1C4534-E538-3236-6C20-A8B374A8AE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2064" y="4754880"/>
            <a:ext cx="5583936" cy="91199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30000"/>
              </a:lnSpc>
              <a:buNone/>
              <a:defRPr lang="en-US" cap="all" spc="30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A03C87-C6AA-D0C4-87B0-FF0D63B3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5019C6-1EDF-B6A6-D0C0-A7D72B6ECA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6A65EFB-173C-417D-98F7-5A1345289076}" type="datetime1">
              <a:rPr lang="en-US" smtClean="0"/>
              <a:pPr/>
              <a:t>4/15/2026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3042B5-2042-6232-C599-BB8FB4C21A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604640D-0255-40E7-9767-A88F9D8B114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424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4/15/2026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331527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5" r:id="rId1"/>
    <p:sldLayoutId id="2147483886" r:id="rId2"/>
    <p:sldLayoutId id="2147483887" r:id="rId3"/>
    <p:sldLayoutId id="2147483888" r:id="rId4"/>
    <p:sldLayoutId id="2147483889" r:id="rId5"/>
    <p:sldLayoutId id="2147483890" r:id="rId6"/>
    <p:sldLayoutId id="2147483891" r:id="rId7"/>
    <p:sldLayoutId id="2147483892" r:id="rId8"/>
    <p:sldLayoutId id="2147483893" r:id="rId9"/>
    <p:sldLayoutId id="2147483894" r:id="rId10"/>
    <p:sldLayoutId id="2147483895" r:id="rId11"/>
    <p:sldLayoutId id="2147483896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ebsco.com/c/ix3dnl/search/details/nxqqmbbror?q=Scrum+team+communication+effectiveness+2022+2023%E2%80%9D" TargetMode="External"/><Relationship Id="rId2" Type="http://schemas.openxmlformats.org/officeDocument/2006/relationships/hyperlink" Target="https://research.ebsco.com/c/ix3dnl/search/details/rkauzvj2wj?q=Khanna%2C%20D.%2C%20%26%20Wang%2C%20X.%20%282024%29.%20Agile%20retrospectives.%20Springer.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mdpi.com/2076-3417/15/10/54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DB3D4B9-7168-A4F8-49FB-7DCB525463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064" y="512064"/>
            <a:ext cx="10235643" cy="2315268"/>
          </a:xfrm>
        </p:spPr>
        <p:txBody>
          <a:bodyPr>
            <a:normAutofit/>
          </a:bodyPr>
          <a:lstStyle/>
          <a:p>
            <a:r>
              <a:rPr lang="en-US" sz="3200" b="1">
                <a:ea typeface="+mj-lt"/>
                <a:cs typeface="+mj-lt"/>
              </a:rPr>
              <a:t>Sprint Review and Retrospective – Agile Project</a:t>
            </a:r>
            <a:endParaRPr lang="en-US" sz="3200" b="1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85721AD-F792-487E-A0B4-DF1E774754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3272" y="2339484"/>
            <a:ext cx="5583936" cy="3758710"/>
          </a:xfrm>
        </p:spPr>
        <p:txBody>
          <a:bodyPr vert="horz" lIns="91440" tIns="45720" rIns="91440" bIns="45720" rtlCol="0" anchor="t">
            <a:noAutofit/>
          </a:bodyPr>
          <a:lstStyle/>
          <a:p>
            <a:endParaRPr lang="en-US" b="1">
              <a:solidFill>
                <a:schemeClr val="tx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ea typeface="+mn-lt"/>
                <a:cs typeface="+mn-lt"/>
              </a:rPr>
              <a:t>SNHU Travel Project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ea typeface="+mn-lt"/>
                <a:cs typeface="+mn-lt"/>
              </a:rPr>
              <a:t>Hetal Ram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ea typeface="+mn-lt"/>
                <a:cs typeface="+mn-lt"/>
              </a:rPr>
              <a:t>CS 250 Software Development Lifecycle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ea typeface="+mn-lt"/>
                <a:cs typeface="+mn-lt"/>
              </a:rPr>
              <a:t>Professor Tarik Iles</a:t>
            </a:r>
          </a:p>
          <a:p>
            <a:pPr marL="285750" indent="-285750">
              <a:buFont typeface="Arial"/>
              <a:buChar char="•"/>
            </a:pPr>
            <a:r>
              <a:rPr lang="en-US" sz="1800" b="1">
                <a:solidFill>
                  <a:schemeClr val="tx1"/>
                </a:solidFill>
                <a:ea typeface="Calibri"/>
                <a:cs typeface="Calibri"/>
              </a:rPr>
              <a:t>April 15,2026</a:t>
            </a:r>
          </a:p>
          <a:p>
            <a:endParaRPr lang="en-US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817861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08D11-1B00-0BCD-0BAE-3459218D4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>
                <a:solidFill>
                  <a:schemeClr val="tx1"/>
                </a:solidFill>
                <a:ea typeface="+mj-lt"/>
                <a:cs typeface="+mj-lt"/>
              </a:rPr>
              <a:t>Agile Team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4654-1B4D-B12D-F713-1D35F1FD9C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45734"/>
            <a:ext cx="10863532" cy="4023360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2400" b="1">
                <a:ea typeface="+mn-lt"/>
                <a:cs typeface="+mn-lt"/>
              </a:rPr>
              <a:t> Product Owner</a:t>
            </a:r>
            <a:r>
              <a:rPr lang="en-US" sz="2400">
                <a:ea typeface="+mn-lt"/>
                <a:cs typeface="+mn-lt"/>
              </a:rPr>
              <a:t> – Defines and prioritizes user stories to deliver maximum </a:t>
            </a:r>
            <a:r>
              <a:rPr lang="en-US" sz="2400" dirty="0">
                <a:ea typeface="+mn-lt"/>
                <a:cs typeface="+mn-lt"/>
              </a:rPr>
              <a:t>value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b="1">
                <a:ea typeface="+mn-lt"/>
                <a:cs typeface="+mn-lt"/>
              </a:rPr>
              <a:t>Scrum Master</a:t>
            </a:r>
            <a:r>
              <a:rPr lang="en-US" sz="2400" dirty="0">
                <a:ea typeface="+mn-lt"/>
                <a:cs typeface="+mn-lt"/>
              </a:rPr>
              <a:t> – Facilitates the process and removes obstacles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2400" dirty="0">
                <a:ea typeface="+mn-lt"/>
                <a:cs typeface="+mn-lt"/>
              </a:rPr>
              <a:t> </a:t>
            </a:r>
            <a:r>
              <a:rPr lang="en-US" sz="2400" b="1">
                <a:ea typeface="+mn-lt"/>
                <a:cs typeface="+mn-lt"/>
              </a:rPr>
              <a:t>Development Team</a:t>
            </a:r>
            <a:r>
              <a:rPr lang="en-US" sz="2400" dirty="0">
                <a:ea typeface="+mn-lt"/>
                <a:cs typeface="+mn-lt"/>
              </a:rPr>
              <a:t> – Designs, builds, and tests the product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endParaRPr lang="en-US" sz="2400" dirty="0">
              <a:ea typeface="+mn-lt"/>
              <a:cs typeface="+mn-lt"/>
            </a:endParaRPr>
          </a:p>
          <a:p>
            <a:pPr>
              <a:buNone/>
            </a:pPr>
            <a:r>
              <a:rPr lang="en-US" sz="2400">
                <a:ea typeface="+mn-lt"/>
                <a:cs typeface="+mn-lt"/>
              </a:rPr>
              <a:t> Each role is essential because it ensures clear direction, smooth workflow, </a:t>
            </a:r>
            <a:r>
              <a:rPr lang="en-US" sz="2400" dirty="0">
                <a:ea typeface="+mn-lt"/>
                <a:cs typeface="+mn-lt"/>
              </a:rPr>
              <a:t>and high-quality delivery</a:t>
            </a:r>
            <a:endParaRPr lang="en-US" dirty="0">
              <a:ea typeface="Calibri"/>
              <a:cs typeface="Calibri"/>
            </a:endParaRPr>
          </a:p>
          <a:p>
            <a:pPr marL="0" indent="0">
              <a:buNone/>
            </a:pPr>
            <a:endParaRPr lang="en-US" sz="2400" dirty="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en-US" sz="2400" dirty="0">
              <a:latin typeface="Raleway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496966955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BA65-F64F-0D2F-1E2B-9B4503547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chemeClr val="tx1"/>
                </a:solidFill>
                <a:ea typeface="+mj-lt"/>
                <a:cs typeface="+mj-lt"/>
              </a:rPr>
              <a:t>Agile Development Phases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3B3513-5A88-79DE-1A9B-BE5353B148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en-US" sz="1800" dirty="0"/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  Sprint Planning – Defines goals and tasks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  Development – Builds features in iterations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 Continuous Testing – Ensures quality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  Sprint Review – Evaluates completed work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  Sprint Retrospective – Improves future performance</a:t>
            </a:r>
            <a:endParaRPr lang="en-US" sz="180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800" dirty="0">
                <a:ea typeface="+mn-lt"/>
                <a:cs typeface="+mn-lt"/>
              </a:rPr>
              <a:t> 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   Agile phases are iterative, allowing continuous feedback and improvement</a:t>
            </a:r>
            <a:endParaRPr lang="en-US"/>
          </a:p>
          <a:p>
            <a:pPr marL="0" indent="0">
              <a:buNone/>
            </a:pPr>
            <a:r>
              <a:rPr lang="en-US" sz="1800" dirty="0"/>
              <a:t>   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5172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395C-559A-45A1-6E6F-8A63EEC63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Sprint Review and Retrospective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858037-527D-3967-8F75-F6E5C3E72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None/>
            </a:pPr>
            <a:endParaRPr lang="en-US" sz="1800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  Sprint Review focuses on product outcomes</a:t>
            </a:r>
            <a:endParaRPr lang="en-US" sz="1800" b="1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  Retrospective focuses on team performance</a:t>
            </a:r>
            <a:endParaRPr lang="en-US" sz="1800" b="1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  Identifies strengths and improvement areas</a:t>
            </a:r>
            <a:endParaRPr lang="en-US" sz="1800" b="1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sz="1800" dirty="0">
                <a:ea typeface="+mn-lt"/>
                <a:cs typeface="+mn-lt"/>
              </a:rPr>
              <a:t>  Helps improve next sprint</a:t>
            </a:r>
            <a:endParaRPr lang="en-US" sz="1800" b="1">
              <a:ea typeface="+mn-lt"/>
              <a:cs typeface="+mn-lt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sz="1800">
                <a:ea typeface="+mn-lt"/>
                <a:cs typeface="+mn-lt"/>
              </a:rPr>
              <a:t> Supports continuous improvement </a:t>
            </a:r>
            <a:r>
              <a:rPr lang="en-US" sz="1800" i="1">
                <a:ea typeface="+mn-lt"/>
                <a:cs typeface="+mn-lt"/>
              </a:rPr>
              <a:t>(Khanna &amp; Wang, 2024)</a:t>
            </a:r>
            <a:endParaRPr lang="en-US" sz="180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665446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93C5A-3730-38B9-F3F9-105606A1A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Waterfall Development Approach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96DA61-33C6-F456-D5DD-2526801B9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Linear and sequential process                                                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Phases: Planning → Design → Development → Testing → Deployment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 sz="1800">
                <a:ea typeface="+mn-lt"/>
                <a:cs typeface="+mn-lt"/>
              </a:rPr>
              <a:t>Changes are difficult once development begins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800">
                <a:ea typeface="+mn-lt"/>
                <a:cs typeface="+mn-lt"/>
              </a:rPr>
              <a:t>Example:</a:t>
            </a:r>
            <a:br>
              <a:rPr lang="en-US" sz="1800" dirty="0">
                <a:ea typeface="+mn-lt"/>
                <a:cs typeface="+mn-lt"/>
              </a:rPr>
            </a:br>
            <a:r>
              <a:rPr lang="en-US" sz="1800">
                <a:ea typeface="+mn-lt"/>
                <a:cs typeface="+mn-lt"/>
              </a:rPr>
              <a:t> A bug found late would delay the entire project because testing happens at the end</a:t>
            </a:r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880276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70414-4880-5C2E-1AE7-9892640C35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Agile vs Waterfall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6D035D-5CF9-F673-2572-0A71C946F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Agile: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Flexible and adaptive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Continuous feedback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Faster delivery</a:t>
            </a: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Waterfall: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Fixed and structured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Limited flexibility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Late feedback</a:t>
            </a: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Agile is better for projects with changing requirements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D9CF6-5095-9A30-1AE4-36B184852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B3FCD-2C32-4B45-AAFF-887B92238AA7}" type="datetime1"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B0158-F590-4B7C-3CAC-0B73F8717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993D-B648-0418-F4BF-EA14C550A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305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B836E-AC09-6FBD-C694-2D016A6D7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When to Use Agile vs Waterfall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ECE04F-049B-F84E-5DB8-223677E57E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 dirty="0">
                <a:ea typeface="+mn-lt"/>
                <a:cs typeface="+mn-lt"/>
              </a:rPr>
              <a:t>Use Agile when requirements change frequently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Use Waterfall when requirements are fixed and well-defined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Agile supports collaboration and continuous improvement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Waterfall works better for predictable projects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>
              <a:buNone/>
            </a:pPr>
            <a:r>
              <a:rPr lang="en-US">
                <a:ea typeface="+mn-lt"/>
                <a:cs typeface="+mn-lt"/>
              </a:rPr>
              <a:t>Based on my experience, Agile allowed better adaptability and faster problem-solving</a:t>
            </a:r>
            <a:endParaRPr lang="en-US"/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70728-6B88-F7D1-EEC1-01C5922EA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4B8A86-2C7D-4320-B5D9-96C9A50ACE4D}" type="datetime1"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A2F4E8-DB0D-C5A6-97AE-BD4127D3A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2B9635-9C98-9319-DA10-05A39BAC9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725765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>
        <p15:prstTrans prst="origami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5B2E-DA6B-6BFA-8046-28D5BA7159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Benefits of Agile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16802-AFEF-2AA6-7EF1-3FCDB9375B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Improves teamwork and communication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Increases flexibility and adaptability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Delivers working features faster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Encourages continuous improvement</a:t>
            </a: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 i="1" dirty="0">
                <a:ea typeface="+mn-lt"/>
                <a:cs typeface="+mn-lt"/>
              </a:rPr>
              <a:t>(</a:t>
            </a:r>
            <a:r>
              <a:rPr lang="en-US" i="1" dirty="0" err="1">
                <a:ea typeface="+mn-lt"/>
                <a:cs typeface="+mn-lt"/>
              </a:rPr>
              <a:t>Lutwama</a:t>
            </a:r>
            <a:r>
              <a:rPr lang="en-US" i="1" dirty="0">
                <a:ea typeface="+mn-lt"/>
                <a:cs typeface="+mn-lt"/>
              </a:rPr>
              <a:t> et al., 2024)</a:t>
            </a:r>
            <a:endParaRPr lang="en-US" dirty="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A9E05-887E-1B7D-13FF-68E1BAF2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B3739D-F5E5-4C80-AE19-B782187F34E2}" type="datetime1"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D9F7F-AAB7-6177-EAD3-1E7159A43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B276E8-21F8-9ACF-AAEF-3E0B70243C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3300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A26C3-CBB2-A4D3-73FA-113F0B5954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Scrum in Practice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BDAE5F-CD50-148C-EDCA-D58240C2C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Improves project efficiency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Enhances collaboration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Supports iterative development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Produces higher-quality results</a:t>
            </a: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endParaRPr lang="en-US" dirty="0">
              <a:ea typeface="+mn-lt"/>
              <a:cs typeface="+mn-lt"/>
            </a:endParaRP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(Natalia, 2025; Pastrana et al., 2025)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EFDD7-76D1-BF4B-E7BA-FC0CE963A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0471C-9DFC-4202-9B7C-D78B5121CD56}" type="datetime1"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9F61DC-8560-9B6A-DACC-DA1CDB164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2AC28-4FF2-A602-D09C-566DE38CF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5740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967315-CD6A-81A4-4D20-A98EED811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ea typeface="+mj-lt"/>
                <a:cs typeface="+mj-lt"/>
              </a:rPr>
              <a:t>Conclusion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4DF05-C0DF-3904-4F47-6FE101A36A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Agile improves teamwork, flexibility, and quality</a:t>
            </a:r>
            <a:endParaRPr lang="en-US"/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Supports continuous improvement</a:t>
            </a:r>
          </a:p>
          <a:p>
            <a:pPr>
              <a:buFont typeface="Arial" panose="020F0502020204030204" pitchFamily="34" charset="0"/>
              <a:buChar char="•"/>
            </a:pPr>
            <a:r>
              <a:rPr lang="en-US">
                <a:ea typeface="+mn-lt"/>
                <a:cs typeface="+mn-lt"/>
              </a:rPr>
              <a:t>Better suited for modern software development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21A324-4003-3D9B-02C6-E9439FEA0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53FA0-2696-4DCF-AF73-F5133C5339A0}" type="datetime1">
              <a:t>4/15/2026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E4454-187C-5AC3-A332-B86DF1D56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B777A7-DC73-7126-EC59-C454770EB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dirty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8557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0719C-82A2-F1E7-5B37-ABCBDB175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References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95358-7B1F-C3C3-2988-DDFBB725AA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800">
                <a:ea typeface="+mn-lt"/>
                <a:cs typeface="+mn-lt"/>
              </a:rPr>
              <a:t>Khanna, D., &amp; Wang, X. (2024). Agile retrospectives. Springer. </a:t>
            </a:r>
            <a:r>
              <a:rPr lang="en-US" sz="1800" dirty="0">
                <a:solidFill>
                  <a:srgbClr val="4CA478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‪</a:t>
            </a:r>
            <a:r>
              <a:rPr lang="en-US" sz="1800" dirty="0">
                <a:solidFill>
                  <a:srgbClr val="00B0F0"/>
                </a:solidFill>
                <a:ea typeface="+mn-lt"/>
                <a:cs typeface="+mn-lt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Know-How of Agile Retrospectives in Software Startups‬‎ - ‪Record details‬‎ - ‪EBSCO Discovery Service‬‎</a:t>
            </a:r>
            <a:endParaRPr lang="en-US" sz="1800">
              <a:solidFill>
                <a:srgbClr val="00B0F0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800">
                <a:ea typeface="+mn-lt"/>
                <a:cs typeface="+mn-lt"/>
              </a:rPr>
              <a:t>Natalia, E. (2025). Scrum-based project management maturity. JETBIS. </a:t>
            </a:r>
            <a:r>
              <a:rPr lang="en-US" sz="1800" dirty="0">
                <a:solidFill>
                  <a:srgbClr val="4CA478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‪</a:t>
            </a:r>
            <a:r>
              <a:rPr lang="en-US" sz="1800" dirty="0">
                <a:solidFill>
                  <a:srgbClr val="00B0F0"/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Evaluation of Scrum-based Software Development Project Management Maturity Level at Bank Z.‬‎ - ‪Record details‬‎ - ‪EBSCO Discovery Service‬‎</a:t>
            </a:r>
            <a:endParaRPr lang="en-US" sz="1800">
              <a:solidFill>
                <a:srgbClr val="00B0F0"/>
              </a:solidFill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r>
              <a:rPr lang="en-US" sz="1800" dirty="0" err="1">
                <a:ea typeface="+mn-lt"/>
                <a:cs typeface="+mn-lt"/>
              </a:rPr>
              <a:t>Lutwama</a:t>
            </a:r>
            <a:r>
              <a:rPr lang="en-US" sz="1800" dirty="0">
                <a:ea typeface="+mn-lt"/>
                <a:cs typeface="+mn-lt"/>
              </a:rPr>
              <a:t>, P., et al. (2024). Agile advantages and barriers. South African Journal of Industrial Engineering.</a:t>
            </a:r>
            <a:endParaRPr lang="en-US" sz="1800"/>
          </a:p>
          <a:p>
            <a:r>
              <a:rPr lang="en-US" sz="1800">
                <a:ea typeface="+mn-lt"/>
                <a:cs typeface="+mn-lt"/>
              </a:rPr>
              <a:t>Pastrana, M., et al. (2025). DevOps and Scrum best practices. Applied Sciences</a:t>
            </a:r>
            <a:r>
              <a:rPr lang="en-US" sz="1800" dirty="0">
                <a:solidFill>
                  <a:srgbClr val="111315"/>
                </a:solidFill>
                <a:latin typeface="Raleway"/>
                <a:ea typeface="+mn-lt"/>
                <a:cs typeface="Arial"/>
              </a:rPr>
              <a:t> </a:t>
            </a:r>
            <a:r>
              <a:rPr lang="en-US" sz="1800" dirty="0">
                <a:solidFill>
                  <a:srgbClr val="4F5671"/>
                </a:solidFill>
                <a:highlight>
                  <a:srgbClr val="FFFFFF"/>
                </a:highlight>
                <a:latin typeface="Arial"/>
                <a:ea typeface="+mn-lt"/>
                <a:cs typeface="Arial"/>
              </a:rPr>
              <a:t> </a:t>
            </a:r>
            <a:r>
              <a:rPr lang="en-US" sz="1800" dirty="0">
                <a:solidFill>
                  <a:srgbClr val="00B0F0"/>
                </a:solidFill>
                <a:highlight>
                  <a:srgbClr val="FFFFFF"/>
                </a:highlight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Best Practices Evidenced for Software Development Based on DevOps and Scrum: A Literature Review</a:t>
            </a:r>
            <a:endParaRPr lang="en-US" sz="1800">
              <a:solidFill>
                <a:srgbClr val="00B0F0"/>
              </a:solidFill>
              <a:highlight>
                <a:srgbClr val="FFFFFF"/>
              </a:highlight>
              <a:ea typeface="+mn-lt"/>
              <a:cs typeface="+mn-lt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sz="1800" dirty="0">
              <a:solidFill>
                <a:srgbClr val="4F5671"/>
              </a:solidFill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8790936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6BC688CB-CD41-412D-8E6B-F14E13D0EAC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2432528-3B37-4D02-824C-AED8B98277E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80FEC98-8858-408D-B2FD-DF30EA7BAFC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</Words>
  <Application>Microsoft Office PowerPoint</Application>
  <PresentationFormat>Widescreen</PresentationFormat>
  <Paragraphs>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Retrospect</vt:lpstr>
      <vt:lpstr>Sprint Review and Retrospective – Agile Project</vt:lpstr>
      <vt:lpstr>Agile Team Roles</vt:lpstr>
      <vt:lpstr>Agile Development Phases</vt:lpstr>
      <vt:lpstr>Sprint Review and Retrospective</vt:lpstr>
      <vt:lpstr>Waterfall Development Approach</vt:lpstr>
      <vt:lpstr>Agile vs Waterfall</vt:lpstr>
      <vt:lpstr>When to Use Agile vs Waterfall</vt:lpstr>
      <vt:lpstr>Benefits of Agile</vt:lpstr>
      <vt:lpstr>Scrum in Practice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367</cp:revision>
  <dcterms:created xsi:type="dcterms:W3CDTF">2026-04-16T00:56:40Z</dcterms:created>
  <dcterms:modified xsi:type="dcterms:W3CDTF">2026-04-16T04:04:54Z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